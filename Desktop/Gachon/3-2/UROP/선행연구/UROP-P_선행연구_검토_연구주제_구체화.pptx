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8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05B91"/>
                </a:solidFill>
                <a:latin typeface="Aptos"/>
              </a:rPr>
              <a:t>UROP-P 2주차 면담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9966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82B43"/>
                </a:solidFill>
                <a:latin typeface="Aptos"/>
              </a:rPr>
              <a:t>선행연구 검토를 통한
연구주제 구체화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20440"/>
            <a:ext cx="8595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F6974"/>
                </a:solidFill>
                <a:latin typeface="Aptos"/>
              </a:rPr>
              <a:t>GTX 개통에 따른 광역버스 수요 변화 연구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257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974"/>
                </a:solidFill>
                <a:latin typeface="Aptos"/>
              </a:rPr>
              <a:t>2026.09.14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6509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2B33"/>
                </a:solidFill>
                <a:latin typeface="Aptos"/>
              </a:rPr>
              <a:t>스마트시티학과 금경훈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B43"/>
                </a:solidFill>
                <a:latin typeface="Aptos"/>
              </a:rP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338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B43"/>
                </a:solidFill>
                <a:latin typeface="Aptos"/>
              </a:rPr>
              <a:t>GTX 개통에 따른 광역버스 수요 변화에 주목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3200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연구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52B33"/>
                </a:solidFill>
                <a:latin typeface="Aptos"/>
              </a:defRPr>
            </a:pPr>
            <a:r>
              <a:t>• GTX 개통으로 기존 광역버스 이용자의 GTX 수단 전환 발생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756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52B33"/>
                </a:solidFill>
                <a:latin typeface="Aptos"/>
              </a:defRPr>
            </a:pPr>
            <a:r>
              <a:t>• GTX와 광역버스는 수도권 장거리 통행에서 경합 또는 연계 관계 형성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237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52B33"/>
                </a:solidFill>
                <a:latin typeface="Aptos"/>
              </a:defRPr>
            </a:pPr>
            <a:r>
              <a:t>• 이에 따라 기존 광역버스의 노선별 수요 변화가 예상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234440"/>
            <a:ext cx="5029200" cy="182880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48132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05B91"/>
                </a:solidFill>
                <a:latin typeface="Aptos"/>
              </a:rPr>
              <a:t>실제 GTX-A 개통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1874519"/>
            <a:ext cx="1920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82B43"/>
                </a:solidFill>
                <a:latin typeface="Aptos"/>
              </a:rPr>
              <a:t>63.6%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94767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2B33"/>
                </a:solidFill>
                <a:latin typeface="Aptos"/>
              </a:rPr>
              <a:t>광역버스 이용자의 GTX-A 전환율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587752"/>
            <a:ext cx="4251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974"/>
                </a:solidFill>
                <a:latin typeface="Aptos"/>
              </a:rPr>
              <a:t>일부 노선은 이용량 감소 · 일부 노선은 오히려 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1012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여기서 생긴 연구 질문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22191"/>
            <a:ext cx="1600200" cy="105156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050791"/>
            <a:ext cx="13807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GTX 개통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4096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822191"/>
            <a:ext cx="1600200" cy="105156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1528" y="4050791"/>
            <a:ext cx="13807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노선별
수요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4096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3822191"/>
            <a:ext cx="1600200" cy="1051560"/>
          </a:xfrm>
          <a:prstGeom prst="roundRect">
            <a:avLst/>
          </a:prstGeom>
          <a:solidFill>
            <a:srgbClr val="FAF0E2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1808" y="4050791"/>
            <a:ext cx="13807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왜 노선마다
다를까?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96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3822191"/>
            <a:ext cx="1600200" cy="105156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4050791"/>
            <a:ext cx="13807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영향요인을
파악한다면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40965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3822191"/>
            <a:ext cx="1600200" cy="105156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4050791"/>
            <a:ext cx="138074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GTX-B·C
수요 변화 예측?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257800"/>
            <a:ext cx="10881360" cy="658368"/>
          </a:xfrm>
          <a:prstGeom prst="roundRect">
            <a:avLst/>
          </a:prstGeom>
          <a:solidFill>
            <a:srgbClr val="182B43"/>
          </a:solidFill>
          <a:ln w="12700"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431536"/>
            <a:ext cx="10378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GTX-A의 실제 개통 사례를 활용하여 수요 변화의 영향요인을 파악하고, 이를 GTX-B·C 수요 변화 예측으로 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B43"/>
                </a:solidFill>
                <a:latin typeface="Aptos"/>
              </a:rPr>
              <a:t>2.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338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B43"/>
                </a:solidFill>
                <a:latin typeface="Aptos"/>
              </a:rPr>
              <a:t>선행연구 검토를 통한 연구 방향 구체화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3200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2560320" cy="502920"/>
          </a:xfrm>
          <a:prstGeom prst="rect">
            <a:avLst/>
          </a:prstGeom>
          <a:solidFill>
            <a:srgbClr val="182B43"/>
          </a:solidFill>
          <a:ln w="12700"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24140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검토 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07008"/>
            <a:ext cx="3840480" cy="502920"/>
          </a:xfrm>
          <a:prstGeom prst="rect">
            <a:avLst/>
          </a:prstGeom>
          <a:solidFill>
            <a:srgbClr val="182B43"/>
          </a:solidFill>
          <a:ln w="12700"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1344168"/>
            <a:ext cx="369417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선행연구에서 확인한 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207008"/>
            <a:ext cx="4343400" cy="502920"/>
          </a:xfrm>
          <a:prstGeom prst="rect">
            <a:avLst/>
          </a:prstGeom>
          <a:solidFill>
            <a:srgbClr val="182B43"/>
          </a:solidFill>
          <a:ln w="12700"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1344168"/>
            <a:ext cx="4197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내 연구에 반영할 부분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55648"/>
            <a:ext cx="2560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755648"/>
            <a:ext cx="384048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755648"/>
            <a:ext cx="4343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02536"/>
            <a:ext cx="23774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B43"/>
                </a:solidFill>
                <a:latin typeface="Aptos"/>
              </a:rPr>
              <a:t>GTX 개통 영향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01952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B33"/>
                </a:solidFill>
                <a:latin typeface="Aptos"/>
              </a:rPr>
              <a:t>GTX-A 개통 후 광역버스→GTX 수단전환 발생
노선별 영향은 동일하지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01952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05B91"/>
                </a:solidFill>
                <a:latin typeface="Aptos"/>
              </a:rPr>
              <a:t>전체 수요가 아닌
‘노선별 수요 변화’를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2560320" cy="850392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606040"/>
            <a:ext cx="3840480" cy="850392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606040"/>
            <a:ext cx="4343400" cy="850392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52928"/>
            <a:ext cx="23774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B43"/>
                </a:solidFill>
                <a:latin typeface="Aptos"/>
              </a:rPr>
              <a:t>수단 대체·경합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52344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B33"/>
                </a:solidFill>
                <a:latin typeface="Aptos"/>
              </a:rPr>
              <a:t>철도역-버스정류장 거리, 통행거리 등이
버스-철도 수단선택에 영향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52344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05B91"/>
                </a:solidFill>
                <a:latin typeface="Aptos"/>
              </a:rPr>
              <a:t>거리·접근성 등
경합 설명변수 검토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56432"/>
            <a:ext cx="2560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456432"/>
            <a:ext cx="384048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3456432"/>
            <a:ext cx="43434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03320"/>
            <a:ext cx="23774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B43"/>
                </a:solidFill>
                <a:latin typeface="Aptos"/>
              </a:rPr>
              <a:t>GTX-광역버스 경합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02736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B33"/>
                </a:solidFill>
                <a:latin typeface="Aptos"/>
              </a:rPr>
              <a:t>GTX-A 개통 후 노선별 수요 감소 수준 상이
고위험 노선은 GTX 반경 5km 이내 집중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602736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05B91"/>
                </a:solidFill>
                <a:latin typeface="Aptos"/>
              </a:rPr>
              <a:t>GTX 접근성·공간적 중첩 등
수요변화 영향요인 검토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06824"/>
            <a:ext cx="2560320" cy="850392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4306824"/>
            <a:ext cx="3840480" cy="850392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4306824"/>
            <a:ext cx="4343400" cy="850392"/>
          </a:xfrm>
          <a:prstGeom prst="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53712"/>
            <a:ext cx="23774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B43"/>
                </a:solidFill>
                <a:latin typeface="Aptos"/>
              </a:rPr>
              <a:t>노선 조정·운영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453128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52B33"/>
                </a:solidFill>
                <a:latin typeface="Aptos"/>
              </a:rPr>
              <a:t>수요 감소 수준에 따라 유지·감축·재구조화 등
차별화된 운영방안 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453128"/>
            <a:ext cx="4069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05B91"/>
                </a:solidFill>
                <a:latin typeface="Aptos"/>
              </a:rPr>
              <a:t>수요예측 결과를 향후
노선 운영 판단에 활용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440680"/>
            <a:ext cx="10881360" cy="658368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30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614416"/>
            <a:ext cx="10378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선행연구를 통해  ‘수단 대체·경합 → 노선별 수요 변화 → 영향요인 → 향후 노선 운영’의 연구 흐름을 구체화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B43"/>
                </a:solidFill>
                <a:latin typeface="Aptos"/>
              </a:rPr>
              <a:t>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338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B43"/>
                </a:solidFill>
                <a:latin typeface="Aptos"/>
              </a:rPr>
              <a:t>선행연구와 제안 연구의 차별성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3200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기존 연구의 주요 접근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393192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520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3"/>
                </a:solidFill>
                <a:latin typeface="Aptos"/>
              </a:rPr>
              <a:t>① 실제 개통 영향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4"/>
                </a:solidFill>
                <a:latin typeface="Aptos"/>
              </a:rPr>
              <a:t>GTX-A 개통 후 통행행태·수단 전환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70632"/>
            <a:ext cx="393192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3520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3"/>
                </a:solidFill>
                <a:latin typeface="Aptos"/>
              </a:rPr>
              <a:t>② GTX 도입 효과·수요 추정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2783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4"/>
                </a:solidFill>
                <a:latin typeface="Aptos"/>
              </a:rPr>
              <a:t>시뮬레이션/네트워크 기반 도입 효과 및
광역버스 노선별 수요 변화 추정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13632"/>
            <a:ext cx="3931920" cy="960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3520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B43"/>
                </a:solidFill>
                <a:latin typeface="Aptos"/>
              </a:rPr>
              <a:t>③ 광역버스 노선 개편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7083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F6974"/>
                </a:solidFill>
                <a:latin typeface="Aptos"/>
              </a:rPr>
              <a:t>예상 수요 감소에 따른 유형화 및
유지·감축·재구조화 방안 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965960"/>
            <a:ext cx="2240280" cy="2468880"/>
          </a:xfrm>
          <a:prstGeom prst="roundRect">
            <a:avLst/>
          </a:prstGeom>
          <a:solidFill>
            <a:srgbClr val="FAF0E2"/>
          </a:solidFill>
          <a:ln w="12700">
            <a:solidFill>
              <a:srgbClr val="E0B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24028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B06F2A"/>
                </a:solidFill>
                <a:latin typeface="Aptos"/>
              </a:rPr>
              <a:t>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761488"/>
            <a:ext cx="17373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2B33"/>
                </a:solidFill>
                <a:latin typeface="Aptos"/>
              </a:rPr>
              <a:t>실제 개통 후 관측된
‘노선 특성–수요 변화’ 관계를
규명하고,
이를 미개통 GTX 노선권에
적용하는 접근 검토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88036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11704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제안 연구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54112" y="1600200"/>
            <a:ext cx="3703320" cy="77724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70992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B43"/>
                </a:solidFill>
                <a:latin typeface="Aptos"/>
              </a:rPr>
              <a:t>GTX-A 실제 관측자료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1700784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52B33"/>
                </a:solidFill>
                <a:latin typeface="Aptos"/>
              </a:rPr>
              <a:t>개통 전·후 교통카드 데이터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464040" y="2404872"/>
            <a:ext cx="228600" cy="201168"/>
          </a:xfrm>
          <a:prstGeom prst="downArrow">
            <a:avLst/>
          </a:prstGeom>
          <a:solidFill>
            <a:srgbClr val="5C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54112" y="2587752"/>
            <a:ext cx="3703320" cy="77724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69748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B43"/>
                </a:solidFill>
                <a:latin typeface="Aptos"/>
              </a:rPr>
              <a:t>노선별 수요 변화율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688336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52B33"/>
                </a:solidFill>
                <a:latin typeface="Aptos"/>
              </a:rPr>
              <a:t>실제 변화 정도 측정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464040" y="3392424"/>
            <a:ext cx="228600" cy="201168"/>
          </a:xfrm>
          <a:prstGeom prst="downArrow">
            <a:avLst/>
          </a:prstGeom>
          <a:solidFill>
            <a:srgbClr val="5C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54112" y="3575304"/>
            <a:ext cx="3703320" cy="777240"/>
          </a:xfrm>
          <a:prstGeom prst="roundRect">
            <a:avLst/>
          </a:prstGeom>
          <a:solidFill>
            <a:srgbClr val="FAF0E2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368503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B43"/>
                </a:solidFill>
                <a:latin typeface="Aptos"/>
              </a:rPr>
              <a:t>영향요인 규명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3675888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52B33"/>
                </a:solidFill>
                <a:latin typeface="Aptos"/>
              </a:rPr>
              <a:t>왜 노선마다 영향이 다른가?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464040" y="4379976"/>
            <a:ext cx="228600" cy="201168"/>
          </a:xfrm>
          <a:prstGeom prst="downArrow">
            <a:avLst/>
          </a:prstGeom>
          <a:solidFill>
            <a:srgbClr val="5C7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54112" y="4562856"/>
            <a:ext cx="3703320" cy="77724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672584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B43"/>
                </a:solidFill>
                <a:latin typeface="Aptos"/>
              </a:rPr>
              <a:t>GTX-B·C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4663440"/>
            <a:ext cx="1874519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252B33"/>
                </a:solidFill>
                <a:latin typeface="Aptos"/>
              </a:rPr>
              <a:t>미개통 지역의 수요 변화율 예측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623560"/>
            <a:ext cx="10881360" cy="566928"/>
          </a:xfrm>
          <a:prstGeom prst="roundRect">
            <a:avLst/>
          </a:prstGeom>
          <a:solidFill>
            <a:srgbClr val="182B43"/>
          </a:solidFill>
          <a:ln w="12700"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79008"/>
            <a:ext cx="10469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핵심 차별점: GTX-A의 실제 관측된 ‘노선 특성–수요 변화’ 관계를 학습하여 GTX-B·C 지역으로 확장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B43"/>
                </a:solidFill>
                <a:latin typeface="Aptos"/>
              </a:rPr>
              <a:t>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338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B43"/>
                </a:solidFill>
                <a:latin typeface="Aptos"/>
              </a:rPr>
              <a:t>제안 연구주제 및 분석대상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3200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170432"/>
            <a:ext cx="10881360" cy="82296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30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32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82B43"/>
                </a:solidFill>
                <a:latin typeface="Aptos"/>
              </a:rPr>
              <a:t>GTX 개통에 따른 광역버스 수요 변화 영향요인 분석 및
GTX-B·C 지역 광역버스 수요 변화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연구 목적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679192"/>
            <a:ext cx="333756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529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C7FA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82549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3"/>
                </a:solidFill>
                <a:latin typeface="Aptos"/>
              </a:rPr>
              <a:t>수요 변화 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0040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GTX-A 개통 전·후
노선별 수요 변화율 산출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3944" y="308152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679192"/>
            <a:ext cx="333756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C7FA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82549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3"/>
                </a:solidFill>
                <a:latin typeface="Aptos"/>
              </a:rPr>
              <a:t>영향요인 규명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20040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노선별 수요 변화 차이를
설명하는 주요 요인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08152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2679192"/>
            <a:ext cx="3337560" cy="12344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8529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C7FA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82549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2B43"/>
                </a:solidFill>
                <a:latin typeface="Aptos"/>
              </a:rPr>
              <a:t>미래 수요 변화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20040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GTX-A에서 확인된 관계를 활용해
GTX-B·C 수요 변화율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2245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GTX-A 학습 대상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590288"/>
            <a:ext cx="4206240" cy="411480"/>
          </a:xfrm>
          <a:prstGeom prst="rect">
            <a:avLst/>
          </a:prstGeom>
          <a:solidFill>
            <a:srgbClr val="182B43"/>
          </a:solidFill>
          <a:ln w="12700"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70001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GTX-A 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470001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대상지역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5001768"/>
            <a:ext cx="4206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102352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82B43"/>
                </a:solidFill>
                <a:latin typeface="Aptos"/>
              </a:rPr>
              <a:t>운정중앙역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510235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파주시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394959"/>
            <a:ext cx="4206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495544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82B43"/>
                </a:solidFill>
                <a:latin typeface="Aptos"/>
              </a:rPr>
              <a:t>킨텍스역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5495544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고양시 일산서구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788151"/>
            <a:ext cx="420624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888736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82B43"/>
                </a:solidFill>
                <a:latin typeface="Aptos"/>
              </a:rPr>
              <a:t>대곡역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7752" y="588873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고양시 덕양구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4590288"/>
            <a:ext cx="6126480" cy="1581912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367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3832" y="4800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7054"/>
                </a:solidFill>
                <a:latin typeface="Aptos"/>
              </a:rPr>
              <a:t>분석대상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13832" y="5212080"/>
            <a:ext cx="29718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2B43"/>
                </a:solidFill>
                <a:latin typeface="Aptos"/>
              </a:rPr>
              <a:t>경기 북부 대상지역 → 서울 운행
광역버스 고유 33개 노선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102352"/>
            <a:ext cx="2514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52B33"/>
                </a:solidFill>
                <a:latin typeface="Aptos"/>
              </a:rPr>
              <a:t>GTX-A = 실제 개통 사례·학습 데이터
GTX-B·C = 향후 예측 대상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82B43"/>
                </a:solidFill>
                <a:latin typeface="Aptos"/>
              </a:rPr>
              <a:t>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" y="33832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B43"/>
                </a:solidFill>
                <a:latin typeface="Aptos"/>
              </a:rPr>
              <a:t>연구 수행 방향(안)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55680" cy="32004"/>
          </a:xfrm>
          <a:prstGeom prst="rect">
            <a:avLst/>
          </a:prstGeom>
          <a:solidFill>
            <a:srgbClr val="D7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44752"/>
            <a:ext cx="2011680" cy="2148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C7FAE"/>
                </a:solidFill>
                <a:latin typeface="Aptos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GTX-A 데이터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7373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52B33"/>
                </a:solidFill>
                <a:latin typeface="Aptos"/>
              </a:rPr>
              <a:t>북측 33개 노선
개통 전·후 교통카드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313432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444752"/>
            <a:ext cx="2011680" cy="214884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799" y="16276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C7FAE"/>
                </a:solidFill>
                <a:latin typeface="Aptos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799" y="199339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수요 변화율 산출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799" y="2651760"/>
            <a:ext cx="17373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52B33"/>
                </a:solidFill>
                <a:latin typeface="Aptos"/>
              </a:rPr>
              <a:t>Target:
노선별 수요 변화율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313432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444752"/>
            <a:ext cx="2011680" cy="2148840"/>
          </a:xfrm>
          <a:prstGeom prst="roundRect">
            <a:avLst/>
          </a:prstGeom>
          <a:solidFill>
            <a:srgbClr val="FAF0E2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6276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C7FAE"/>
                </a:solidFill>
                <a:latin typeface="Apto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9339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영향요인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651760"/>
            <a:ext cx="17373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52B33"/>
                </a:solidFill>
                <a:latin typeface="Aptos"/>
              </a:rPr>
              <a:t>기존 수요·노선 특성
GTX 경합·지역 특성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7" y="2313432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444752"/>
            <a:ext cx="2011680" cy="2148840"/>
          </a:xfrm>
          <a:prstGeom prst="roundRect">
            <a:avLst/>
          </a:prstGeom>
          <a:solidFill>
            <a:srgbClr val="E8F3EC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6276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C7FAE"/>
                </a:solidFill>
                <a:latin typeface="Aptos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9339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예측모형 구축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51760"/>
            <a:ext cx="17373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52B33"/>
                </a:solidFill>
                <a:latin typeface="Aptos"/>
              </a:rPr>
              <a:t>다중회귀 / LightGBM /
XGBoost 등 검토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313432"/>
            <a:ext cx="3291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C7FAE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444752"/>
            <a:ext cx="2011680" cy="2148840"/>
          </a:xfrm>
          <a:prstGeom prst="roundRect">
            <a:avLst/>
          </a:prstGeom>
          <a:solidFill>
            <a:srgbClr val="E8EFF7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627632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C7FAE"/>
                </a:solidFill>
                <a:latin typeface="Aptos"/>
              </a:rPr>
              <a:t>STEP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99339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3"/>
                </a:solidFill>
                <a:latin typeface="Aptos"/>
              </a:rPr>
              <a:t>GTX-B·C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51760"/>
            <a:ext cx="17373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52B33"/>
                </a:solidFill>
                <a:latin typeface="Aptos"/>
              </a:rPr>
              <a:t>미개통 지역의
수요 변화율 예측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886200"/>
            <a:ext cx="5349240" cy="8412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14223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B43"/>
                </a:solidFill>
                <a:latin typeface="Aptos"/>
              </a:rPr>
              <a:t>수요 변화율 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1" y="4114800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52B33"/>
                </a:solidFill>
                <a:latin typeface="Aptos"/>
              </a:rPr>
              <a:t>(개통 후 수요 − 개통 전 수요) / 개통 전 수요 × 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886200"/>
            <a:ext cx="5257800" cy="8412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096512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B43"/>
                </a:solidFill>
                <a:latin typeface="Aptos"/>
              </a:rPr>
              <a:t>영향변수 후보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4087368"/>
            <a:ext cx="34930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52B33"/>
                </a:solidFill>
                <a:latin typeface="Aptos"/>
              </a:rPr>
              <a:t>기존 수요 · 노선 특성 · GTX 접근성/경합 · 지역 특성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07492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05B91"/>
                </a:solidFill>
                <a:latin typeface="Aptos"/>
              </a:rPr>
              <a:t>향후 구체화가 필요한 사항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13832"/>
            <a:ext cx="26060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66928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52B33"/>
                </a:solidFill>
                <a:latin typeface="Aptos"/>
              </a:rPr>
              <a:t>분석기간·분석단위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20439" y="5513832"/>
            <a:ext cx="26060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79" y="566928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52B33"/>
                </a:solidFill>
                <a:latin typeface="Aptos"/>
              </a:rPr>
              <a:t>영향변수 최종 선정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59" y="5513832"/>
            <a:ext cx="26060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799" y="566928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52B33"/>
                </a:solidFill>
                <a:latin typeface="Aptos"/>
              </a:rPr>
              <a:t>GTX-A → B·C 적용 가능성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5513832"/>
            <a:ext cx="26060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19" y="5669280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252B33"/>
                </a:solidFill>
                <a:latin typeface="Aptos"/>
              </a:rPr>
              <a:t>예측모형 및 검증방법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446520"/>
            <a:ext cx="228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F69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